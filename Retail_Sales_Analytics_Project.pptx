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1" r:id="rId8"/>
    <p:sldId id="262" r:id="rId9"/>
    <p:sldId id="260" r:id="rId10"/>
    <p:sldId id="263" r:id="rId11"/>
    <p:sldId id="270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965960"/>
            <a:ext cx="914400" cy="9144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</p:spPr>
      </p:sp>
      <p:sp>
        <p:nvSpPr>
          <p:cNvPr id="3" name="Text 1"/>
          <p:cNvSpPr txBox="1"/>
          <p:nvPr/>
        </p:nvSpPr>
        <p:spPr>
          <a:xfrm>
            <a:off x="822960" y="196596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</a:t>
            </a:r>
            <a:endParaRPr lang="en-US" sz="3150" b="1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0632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kern="0" spc="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ANALYST PROJECT</a:t>
            </a:r>
            <a:endParaRPr lang="en-US" sz="1650" b="1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29000"/>
            <a:ext cx="100584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1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Retail Sales Analytics Using Excel, SQL, Python and Power Bi</a:t>
            </a:r>
            <a:endParaRPr lang="en-US" sz="4150" b="1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7091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Domain: Retail, Sales &amp; Inventory Analytics</a:t>
            </a:r>
            <a:endParaRPr lang="en-US" sz="1650" b="1" dirty="0"/>
          </a:p>
        </p:txBody>
      </p:sp>
      <p:sp>
        <p:nvSpPr>
          <p:cNvPr id="20" name="Text Presented By"/>
          <p:cNvSpPr txBox="1"/>
          <p:nvPr/>
        </p:nvSpPr>
        <p:spPr>
          <a:xfrm>
            <a:off x="822960" y="52705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 Amuthalakshmi K</a:t>
            </a:r>
            <a:r>
              <a:rPr lang="en-US" b="1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b="1" i="1" dirty="0"/>
          </a:p>
        </p:txBody>
      </p:sp>
      <p:sp>
        <p:nvSpPr>
          <p:cNvPr id="7" name="Shape 5"/>
          <p:cNvSpPr/>
          <p:nvPr/>
        </p:nvSpPr>
        <p:spPr>
          <a:xfrm>
            <a:off x="822960" y="5990590"/>
            <a:ext cx="3192145" cy="889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kern="0" spc="20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OVERVIEW</a:t>
            </a:r>
            <a:endParaRPr lang="en-US" sz="1450" b="1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50" b="1" dirty="0">
                <a:solidFill>
                  <a:srgbClr val="1A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This Presentation Covers</a:t>
            </a:r>
            <a:endParaRPr lang="en-US" sz="3350" b="1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7315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0" b="1" dirty="0">
                <a:solidFill>
                  <a:srgbClr val="3B82F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2750" b="1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691640"/>
            <a:ext cx="4663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 &amp; Business Use Cases</a:t>
            </a:r>
            <a:endParaRPr lang="en-US" b="1" dirty="0">
              <a:solidFill>
                <a:srgbClr val="1A244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234440" y="205740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this project matters and what decisions it supports</a:t>
            </a:r>
            <a:endParaRPr lang="en-US" sz="1500" b="1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7315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0" b="1" dirty="0">
                <a:solidFill>
                  <a:srgbClr val="3B82F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2750" b="1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743200"/>
            <a:ext cx="4663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Skills &amp; Tools</a:t>
            </a:r>
            <a:endParaRPr lang="en-US" b="1" dirty="0">
              <a:solidFill>
                <a:srgbClr val="1A244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234440" y="310896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end-to-end stack used across every phase</a:t>
            </a:r>
            <a:endParaRPr lang="en-US" sz="1500" b="1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48640" y="3794760"/>
            <a:ext cx="7315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0" b="1" dirty="0">
                <a:solidFill>
                  <a:srgbClr val="3B82F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2750" b="1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794760"/>
            <a:ext cx="4663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 – Excel</a:t>
            </a:r>
            <a:endParaRPr lang="en-US" b="1" dirty="0">
              <a:solidFill>
                <a:srgbClr val="1A244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234440" y="416052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Cleaning, validation, and pivot-based summaries</a:t>
            </a:r>
            <a:endParaRPr lang="en-US" sz="1500" b="1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548640" y="4846320"/>
            <a:ext cx="7315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0" b="1" dirty="0">
                <a:solidFill>
                  <a:srgbClr val="3B82F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2750" b="1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846320"/>
            <a:ext cx="4663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 – SQL</a:t>
            </a:r>
            <a:endParaRPr lang="en-US" b="1" dirty="0">
              <a:solidFill>
                <a:srgbClr val="1A244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1234440" y="521208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Schema creation, joins, and analytical queries</a:t>
            </a:r>
            <a:endParaRPr lang="en-US" sz="1500" b="1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355080" y="1691640"/>
            <a:ext cx="7315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0" b="1" dirty="0">
                <a:solidFill>
                  <a:srgbClr val="3B82F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US" sz="2750" b="1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1691640"/>
            <a:ext cx="4663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&amp; Data Model</a:t>
            </a:r>
            <a:endParaRPr lang="en-US" b="1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205740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Tables, relationships, and the ER diagram</a:t>
            </a:r>
            <a:endParaRPr lang="en-US" sz="1500" b="1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355080" y="2743200"/>
            <a:ext cx="7315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0" b="1" dirty="0">
                <a:solidFill>
                  <a:srgbClr val="3B82F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06</a:t>
            </a:r>
            <a:endParaRPr lang="en-US" sz="2750" b="1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2743200"/>
            <a:ext cx="4663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3 </a:t>
            </a:r>
            <a:r>
              <a:rPr lang="en-US" b="1" dirty="0">
                <a:solidFill>
                  <a:srgbClr val="1A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– Python</a:t>
            </a:r>
            <a:endParaRPr lang="en-US" b="1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310896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EDA, RFM features, and customer segmentation</a:t>
            </a:r>
            <a:endParaRPr lang="en-US" sz="1500" b="1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6355080" y="3794760"/>
            <a:ext cx="7315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0" b="1" dirty="0">
                <a:solidFill>
                  <a:srgbClr val="3B82F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07</a:t>
            </a:r>
            <a:endParaRPr lang="en-US" sz="2750" b="1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3794760"/>
            <a:ext cx="4663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4 – Power BI Dashboard</a:t>
            </a:r>
            <a:endParaRPr lang="en-US" b="1" dirty="0">
              <a:solidFill>
                <a:srgbClr val="1A244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7040880" y="416052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Interactive Home, Sales, Store &amp; Customer pages</a:t>
            </a:r>
            <a:endParaRPr lang="en-US" sz="1500" b="1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6355080" y="4846320"/>
            <a:ext cx="7315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0" b="1" dirty="0">
                <a:solidFill>
                  <a:srgbClr val="3B82F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08</a:t>
            </a:r>
            <a:endParaRPr lang="en-US" sz="2750" b="1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4846320"/>
            <a:ext cx="4663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Insights &amp; Results</a:t>
            </a:r>
            <a:endParaRPr lang="en-US" b="1" dirty="0">
              <a:solidFill>
                <a:srgbClr val="1A244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7040880" y="521208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the analysis revealed</a:t>
            </a:r>
            <a:endParaRPr lang="en-US" sz="1500" b="1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5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crim Panel"/>
          <p:cNvSpPr/>
          <p:nvPr/>
        </p:nvSpPr>
        <p:spPr>
          <a:xfrm>
            <a:off x="6699885" y="1691005"/>
            <a:ext cx="5050155" cy="4460240"/>
          </a:xfrm>
          <a:prstGeom prst="roundRect">
            <a:avLst>
              <a:gd name="adj" fmla="val 4000"/>
            </a:avLst>
          </a:prstGeom>
          <a:solidFill>
            <a:srgbClr val="12183F">
              <a:alpha val="58000"/>
            </a:srgbClr>
          </a:solidFill>
          <a:ln>
            <a:noFill/>
          </a:ln>
        </p:spPr>
        <p:txBody>
          <a:bodyPr/>
          <a:lstStyle/>
          <a:p>
            <a:endParaRPr lang="en-US" b="1"/>
          </a:p>
        </p:txBody>
      </p:sp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kern="0" spc="20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CHALLENGE</a:t>
            </a:r>
            <a:endParaRPr lang="en-US" sz="1450" b="1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50" b="1" dirty="0">
                <a:solidFill>
                  <a:srgbClr val="1A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</a:t>
            </a:r>
            <a:endParaRPr lang="en-US" sz="3350" b="1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0350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524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53949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A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a competitive retail market, businesses need to track sales performance, understand customer behavior, and identify growth opportunities.</a:t>
            </a:r>
            <a:endParaRPr lang="en-US" sz="1750" b="1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54680"/>
            <a:ext cx="53949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50" b="1" dirty="0">
                <a:solidFill>
                  <a:srgbClr val="3D4A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project builds an end-to-end analytics solution that generates insights from raw transactional data using a multi-tool approach — Excel, SQL, Python, and Power BI working together as one pipeline.</a:t>
            </a:r>
            <a:endParaRPr lang="en-US" sz="1750" b="1" dirty="0"/>
          </a:p>
        </p:txBody>
      </p:sp>
      <p:sp>
        <p:nvSpPr>
          <p:cNvPr id="7" name="Shape 5"/>
          <p:cNvSpPr/>
          <p:nvPr/>
        </p:nvSpPr>
        <p:spPr>
          <a:xfrm>
            <a:off x="868680" y="4663440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F0F5FC"/>
          </a:solidFill>
        </p:spPr>
      </p:sp>
      <p:sp>
        <p:nvSpPr>
          <p:cNvPr id="8" name="Text 6"/>
          <p:cNvSpPr txBox="1"/>
          <p:nvPr/>
        </p:nvSpPr>
        <p:spPr>
          <a:xfrm>
            <a:off x="1097280" y="480060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Domain</a:t>
            </a:r>
            <a:endParaRPr lang="en-US" sz="1200" b="1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507492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A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Retail, Sales &amp; Inventory Analytics</a:t>
            </a:r>
            <a:endParaRPr lang="en-US" sz="1750" b="1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54406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4A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Approach: multi-tool pipeline (Excel → SQL → Python → Power BI)</a:t>
            </a:r>
            <a:endParaRPr lang="en-US" sz="1300" b="1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1717675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USE CASES</a:t>
            </a:r>
            <a:endParaRPr lang="en-US" sz="1350" b="1" dirty="0"/>
          </a:p>
        </p:txBody>
      </p:sp>
      <p:sp>
        <p:nvSpPr>
          <p:cNvPr id="12" name="Shape 10"/>
          <p:cNvSpPr/>
          <p:nvPr/>
        </p:nvSpPr>
        <p:spPr>
          <a:xfrm>
            <a:off x="6858000" y="2194560"/>
            <a:ext cx="320040" cy="32004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3" name="Text 11"/>
          <p:cNvSpPr txBox="1"/>
          <p:nvPr/>
        </p:nvSpPr>
        <p:spPr>
          <a:xfrm>
            <a:off x="6858000" y="21945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50" b="1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121408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Analyze sales performance across stores and staff</a:t>
            </a:r>
            <a:endParaRPr lang="en-US" sz="1500" b="1" dirty="0"/>
          </a:p>
        </p:txBody>
      </p:sp>
      <p:sp>
        <p:nvSpPr>
          <p:cNvPr id="15" name="Shape 13"/>
          <p:cNvSpPr/>
          <p:nvPr/>
        </p:nvSpPr>
        <p:spPr>
          <a:xfrm>
            <a:off x="6858000" y="2971800"/>
            <a:ext cx="320040" cy="32004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6" name="Text 14"/>
          <p:cNvSpPr txBox="1"/>
          <p:nvPr/>
        </p:nvSpPr>
        <p:spPr>
          <a:xfrm>
            <a:off x="6858000" y="297180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50" b="1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2898648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 high-value customers and buying patterns</a:t>
            </a:r>
            <a:endParaRPr lang="en-US" sz="1500" b="1" dirty="0"/>
          </a:p>
        </p:txBody>
      </p:sp>
      <p:sp>
        <p:nvSpPr>
          <p:cNvPr id="18" name="Shape 16"/>
          <p:cNvSpPr/>
          <p:nvPr/>
        </p:nvSpPr>
        <p:spPr>
          <a:xfrm>
            <a:off x="6858000" y="3749040"/>
            <a:ext cx="320040" cy="32004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9" name="Text 17"/>
          <p:cNvSpPr txBox="1"/>
          <p:nvPr/>
        </p:nvSpPr>
        <p:spPr>
          <a:xfrm>
            <a:off x="6858000" y="374904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50" b="1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3675888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 customer segmentation for targeted marketing</a:t>
            </a:r>
            <a:endParaRPr lang="en-US" sz="1500" b="1" dirty="0"/>
          </a:p>
        </p:txBody>
      </p:sp>
      <p:sp>
        <p:nvSpPr>
          <p:cNvPr id="21" name="Shape 19"/>
          <p:cNvSpPr/>
          <p:nvPr/>
        </p:nvSpPr>
        <p:spPr>
          <a:xfrm>
            <a:off x="6858000" y="4526280"/>
            <a:ext cx="320040" cy="32004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2" name="Text 20"/>
          <p:cNvSpPr txBox="1"/>
          <p:nvPr/>
        </p:nvSpPr>
        <p:spPr>
          <a:xfrm>
            <a:off x="6858000" y="452628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50" b="1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4453128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 inventory levels and product performance</a:t>
            </a:r>
            <a:endParaRPr lang="en-US" sz="1500" b="1" dirty="0"/>
          </a:p>
        </p:txBody>
      </p:sp>
      <p:sp>
        <p:nvSpPr>
          <p:cNvPr id="24" name="Shape 22"/>
          <p:cNvSpPr/>
          <p:nvPr/>
        </p:nvSpPr>
        <p:spPr>
          <a:xfrm>
            <a:off x="6858000" y="5303520"/>
            <a:ext cx="320040" cy="32004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5" name="Text 23"/>
          <p:cNvSpPr txBox="1"/>
          <p:nvPr/>
        </p:nvSpPr>
        <p:spPr>
          <a:xfrm>
            <a:off x="6858000" y="530352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50" b="1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5230368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 an interactive Power BI dashboard for management</a:t>
            </a:r>
            <a:endParaRPr lang="en-US" sz="1500" b="1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5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kern="0" spc="20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CAPABILITIES DEMONSTRATED</a:t>
            </a:r>
            <a:endParaRPr lang="en-US" sz="1450" b="1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50" b="1" dirty="0">
                <a:solidFill>
                  <a:srgbClr val="1A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Skills &amp; Tools Used</a:t>
            </a:r>
            <a:endParaRPr lang="en-US" sz="3350" b="1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263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270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750" b="1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47777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A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Excel</a:t>
            </a:r>
            <a:endParaRPr lang="en-US" sz="1850" b="1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71800"/>
            <a:ext cx="47777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D4A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cleaning, VLOOKUP/XLOOKUP, pivot tables, validation</a:t>
            </a:r>
            <a:endParaRPr lang="en-US" sz="1300" b="1" dirty="0"/>
          </a:p>
        </p:txBody>
      </p:sp>
      <p:sp>
        <p:nvSpPr>
          <p:cNvPr id="9" name="Shape 7"/>
          <p:cNvSpPr/>
          <p:nvPr/>
        </p:nvSpPr>
        <p:spPr>
          <a:xfrm>
            <a:off x="6423660" y="1691640"/>
            <a:ext cx="53263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270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97980" y="1965960"/>
            <a:ext cx="502920" cy="502920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11" name="Text 9"/>
          <p:cNvSpPr txBox="1"/>
          <p:nvPr/>
        </p:nvSpPr>
        <p:spPr>
          <a:xfrm>
            <a:off x="6697980" y="19659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750" b="1" dirty="0"/>
          </a:p>
        </p:txBody>
      </p:sp>
      <p:sp>
        <p:nvSpPr>
          <p:cNvPr id="12" name="Text 10"/>
          <p:cNvSpPr txBox="1"/>
          <p:nvPr/>
        </p:nvSpPr>
        <p:spPr>
          <a:xfrm>
            <a:off x="6697980" y="2606040"/>
            <a:ext cx="47777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A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SQL</a:t>
            </a:r>
            <a:endParaRPr lang="en-US" sz="1850" b="1" dirty="0"/>
          </a:p>
        </p:txBody>
      </p:sp>
      <p:sp>
        <p:nvSpPr>
          <p:cNvPr id="13" name="Text 11"/>
          <p:cNvSpPr txBox="1"/>
          <p:nvPr/>
        </p:nvSpPr>
        <p:spPr>
          <a:xfrm>
            <a:off x="6697980" y="2971800"/>
            <a:ext cx="47777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D4A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Schema design, joins, aggregations, analytical queries</a:t>
            </a:r>
            <a:endParaRPr lang="en-US" sz="1300" b="1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263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270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51960"/>
            <a:ext cx="502920" cy="502920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16" name="Text 14"/>
          <p:cNvSpPr txBox="1"/>
          <p:nvPr/>
        </p:nvSpPr>
        <p:spPr>
          <a:xfrm>
            <a:off x="822960" y="42519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750" b="1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892040"/>
            <a:ext cx="47777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A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Python</a:t>
            </a:r>
            <a:endParaRPr lang="en-US" sz="1850" b="1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257800"/>
            <a:ext cx="47777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D4A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Pandas, NumPy, Matplotlib/Seaborn for EDA &amp; visuals</a:t>
            </a:r>
            <a:endParaRPr lang="en-US" sz="1300" b="1" dirty="0"/>
          </a:p>
        </p:txBody>
      </p:sp>
      <p:sp>
        <p:nvSpPr>
          <p:cNvPr id="24" name="Shape 22"/>
          <p:cNvSpPr/>
          <p:nvPr/>
        </p:nvSpPr>
        <p:spPr>
          <a:xfrm>
            <a:off x="6423660" y="3977640"/>
            <a:ext cx="53263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270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97980" y="4251960"/>
            <a:ext cx="502920" cy="502920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26" name="Text 24"/>
          <p:cNvSpPr txBox="1"/>
          <p:nvPr/>
        </p:nvSpPr>
        <p:spPr>
          <a:xfrm>
            <a:off x="6697980" y="42519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750" b="1" dirty="0"/>
          </a:p>
        </p:txBody>
      </p:sp>
      <p:sp>
        <p:nvSpPr>
          <p:cNvPr id="27" name="Text 25"/>
          <p:cNvSpPr txBox="1"/>
          <p:nvPr/>
        </p:nvSpPr>
        <p:spPr>
          <a:xfrm>
            <a:off x="6697980" y="4892040"/>
            <a:ext cx="47777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A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Power BI</a:t>
            </a:r>
            <a:endParaRPr lang="en-US" sz="1850" b="1" dirty="0"/>
          </a:p>
        </p:txBody>
      </p:sp>
      <p:sp>
        <p:nvSpPr>
          <p:cNvPr id="28" name="Text 26"/>
          <p:cNvSpPr txBox="1"/>
          <p:nvPr/>
        </p:nvSpPr>
        <p:spPr>
          <a:xfrm>
            <a:off x="6697980" y="5257800"/>
            <a:ext cx="47777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D4A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Interactive dashboards, DAX measures, drill-through</a:t>
            </a:r>
            <a:endParaRPr lang="en-US" sz="1300" b="1" dirty="0"/>
          </a:p>
        </p:txBody>
      </p:sp>
      <p:sp>
        <p:nvSpPr>
          <p:cNvPr id="34" name="Text 32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5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kern="0" spc="20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</a:t>
            </a:r>
            <a:endParaRPr lang="en-US" sz="1450" b="1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50" b="1" dirty="0">
                <a:solidFill>
                  <a:srgbClr val="1A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Excel — Data Cleaning &amp; Preparation</a:t>
            </a:r>
            <a:endParaRPr lang="en-US" sz="3350" b="1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50" b="1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6916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Standardized column headers across all sheets (snake_case)</a:t>
            </a:r>
            <a:endParaRPr lang="en-US" sz="1400" b="1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50" b="1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1945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Removed duplicate records and handled missing values</a:t>
            </a:r>
            <a:endParaRPr lang="en-US" sz="1400" b="1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974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50" b="1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974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Converted dates and numeric fields to correct formats</a:t>
            </a:r>
            <a:endParaRPr lang="en-US" sz="1400" b="1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004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50" b="1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2004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Added data validation dropdowns for order_status</a:t>
            </a:r>
            <a:endParaRPr lang="en-US" sz="1400" b="1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7033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50" b="1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70332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Created total_price = (list_price × quantity) − discount</a:t>
            </a:r>
            <a:endParaRPr lang="en-US" sz="1400" b="1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2062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50" b="1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2062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Merged product names into order_items using VLOOKUP</a:t>
            </a:r>
            <a:endParaRPr lang="en-US" sz="1400" b="1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7091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50" b="1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7091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pivot tables summarizing sales by category</a:t>
            </a:r>
            <a:endParaRPr lang="en-US" sz="1400" b="1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2120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50" b="1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2120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Exported cleaned sheets to CSV for SQL import</a:t>
            </a:r>
            <a:endParaRPr lang="en-US" sz="1400" b="1" dirty="0"/>
          </a:p>
        </p:txBody>
      </p:sp>
      <p:sp>
        <p:nvSpPr>
          <p:cNvPr id="20" name="Shape 18"/>
          <p:cNvSpPr/>
          <p:nvPr/>
        </p:nvSpPr>
        <p:spPr>
          <a:xfrm>
            <a:off x="5390515" y="1350010"/>
            <a:ext cx="6581140" cy="258191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270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p>
            <a:endParaRPr lang="en-US"/>
          </a:p>
        </p:txBody>
      </p:sp>
      <p:pic>
        <p:nvPicPr>
          <p:cNvPr id="21" name="Image 0" descr="/home/claude/imgs/vlookup.png"/>
          <p:cNvPicPr>
            <a:picLocks noChangeAspect="1"/>
          </p:cNvPicPr>
          <p:nvPr/>
        </p:nvPicPr>
        <p:blipFill>
          <a:blip r:embed="rId2"/>
          <a:srcRect r="38341"/>
          <a:stretch>
            <a:fillRect/>
          </a:stretch>
        </p:blipFill>
        <p:spPr>
          <a:xfrm>
            <a:off x="5405755" y="1390015"/>
            <a:ext cx="6582410" cy="2450465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5989320" y="4000500"/>
            <a:ext cx="5623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VLOOKUP merging category names into order_items</a:t>
            </a:r>
            <a:endParaRPr lang="en-US" sz="1300" b="1" i="1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5989320" y="4343400"/>
            <a:ext cx="4753610" cy="204597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270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24" name="Image 1" descr="/home/claude/imgs/pivot_table.png"/>
          <p:cNvPicPr>
            <a:picLocks noChangeAspect="1"/>
          </p:cNvPicPr>
          <p:nvPr/>
        </p:nvPicPr>
        <p:blipFill>
          <a:blip r:embed="rId3"/>
          <a:srcRect r="78098" b="51402"/>
          <a:stretch>
            <a:fillRect/>
          </a:stretch>
        </p:blipFill>
        <p:spPr>
          <a:xfrm>
            <a:off x="6125845" y="4434840"/>
            <a:ext cx="4034790" cy="185166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25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kern="0" spc="20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</a:t>
            </a:r>
            <a:endParaRPr lang="en-US" sz="1450" b="1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50" b="1" dirty="0">
                <a:solidFill>
                  <a:srgbClr val="1A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SQL — Database &amp; Querying</a:t>
            </a:r>
            <a:endParaRPr lang="en-US" sz="3350" b="1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50" b="1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6916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Created tables replicating the ER diagram, with constraints</a:t>
            </a:r>
            <a:endParaRPr lang="en-US" sz="1400" b="1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50" b="1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1945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Loaded cleaned CSVs into MySQL</a:t>
            </a:r>
            <a:endParaRPr lang="en-US" sz="1400" b="1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974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50" b="1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974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Inner-joined orders, order_items &amp; products for line-item detail</a:t>
            </a:r>
            <a:endParaRPr lang="en-US" sz="1400" b="1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004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50" b="1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2004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Grouped total sales by store, and revenue by staff</a:t>
            </a:r>
            <a:endParaRPr lang="en-US" sz="1400" b="1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7033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50" b="1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70332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Ranked top 5 products by quantity sold</a:t>
            </a:r>
            <a:endParaRPr lang="en-US" sz="1400" b="1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2062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50" b="1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2062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Classified customers into Low / Medium / High spend brackets</a:t>
            </a:r>
            <a:endParaRPr lang="en-US" sz="1400" b="1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7091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50" b="1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7091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Flagged low-stock products (quantity &lt; 10) per store</a:t>
            </a:r>
            <a:endParaRPr lang="en-US" sz="1400" b="1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2120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50" b="1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2120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Created customer_segment table for  segmentation results</a:t>
            </a:r>
            <a:endParaRPr lang="en-US" sz="1400" b="1" dirty="0"/>
          </a:p>
        </p:txBody>
      </p:sp>
      <p:sp>
        <p:nvSpPr>
          <p:cNvPr id="20" name="Shape 18"/>
          <p:cNvSpPr/>
          <p:nvPr/>
        </p:nvSpPr>
        <p:spPr>
          <a:xfrm>
            <a:off x="5989320" y="1600200"/>
            <a:ext cx="5623560" cy="4572000"/>
          </a:xfrm>
          <a:prstGeom prst="roundRect">
            <a:avLst>
              <a:gd name="adj" fmla="val 1200"/>
            </a:avLst>
          </a:prstGeom>
          <a:solidFill>
            <a:srgbClr val="12183F"/>
          </a:solidFill>
          <a:effectLst>
            <a:outerShdw blurRad="152400" dist="381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309360" y="17830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QUERY — TOP STORE REVENUE</a:t>
            </a:r>
            <a:endParaRPr lang="en-US" sz="1250" b="1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2148840"/>
            <a:ext cx="5029200" cy="274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9FE8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s.store_id, s.store_name,</a:t>
            </a:r>
            <a:endParaRPr lang="en-US" sz="1400" b="1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9FE8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ROUND(SUM(oi.total_price),2)</a:t>
            </a:r>
            <a:endParaRPr lang="en-US" sz="1400" b="1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9FE8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AS total_sales</a:t>
            </a:r>
            <a:endParaRPr lang="en-US" sz="1400" b="1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9FE8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stores s</a:t>
            </a:r>
            <a:endParaRPr lang="en-US" sz="1400" b="1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9FE8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INNER JOIN orders o</a:t>
            </a:r>
            <a:endParaRPr lang="en-US" sz="1400" b="1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9FE8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ON s.store_id = o.store_id</a:t>
            </a:r>
            <a:endParaRPr lang="en-US" sz="1400" b="1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9FE8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INNER JOIN order_items oi</a:t>
            </a:r>
            <a:endParaRPr lang="en-US" sz="1400" b="1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9FE8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ON o.order_id = oi.order_id</a:t>
            </a:r>
            <a:endParaRPr lang="en-US" sz="1400" b="1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9FE8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GROUP BY s.store_id, s.store_name</a:t>
            </a:r>
            <a:endParaRPr lang="en-US" sz="1400" b="1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9FE8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ORDER BY total_sales DESC;</a:t>
            </a:r>
            <a:endParaRPr lang="en-US" sz="1400" b="1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5349240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Result: Baldwin Bikes leads all stores at 5.22M in revenue</a:t>
            </a:r>
            <a:endParaRPr lang="en-US" sz="1350" b="1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250" b="1" dirty="0"/>
          </a:p>
        </p:txBody>
      </p:sp>
      <p:sp>
        <p:nvSpPr>
          <p:cNvPr id="41" name="Text ER Caption"/>
          <p:cNvSpPr txBox="1"/>
          <p:nvPr/>
        </p:nvSpPr>
        <p:spPr>
          <a:xfrm>
            <a:off x="1761820" y="5596128"/>
            <a:ext cx="39531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kern="0" spc="20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FOUNDATION</a:t>
            </a:r>
            <a:endParaRPr lang="en-US" sz="1450" b="1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50" b="1" dirty="0">
                <a:solidFill>
                  <a:srgbClr val="1A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Dataset &amp; Relational Model</a:t>
            </a:r>
            <a:endParaRPr lang="en-US" sz="3350" b="1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45720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3D4A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Relational retail dataset spanning 8 linked tables — customers, orders, order_items, products, brands, categories, stocks, and stores/staffs — exported to CSV and loaded into SQL for the full analysis pipeline.</a:t>
            </a:r>
            <a:endParaRPr lang="en-US" sz="1500" b="1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customers</a:t>
            </a:r>
            <a:endParaRPr lang="en-US" sz="1350" b="1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306324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4A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Buyer info incl. contact &amp; location</a:t>
            </a:r>
            <a:endParaRPr lang="en-US" sz="1250" b="1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65576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orders</a:t>
            </a:r>
            <a:endParaRPr lang="en-US" sz="1350" b="1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3465576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4A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 log with staff/store refs</a:t>
            </a:r>
            <a:endParaRPr lang="en-US" sz="1250" b="1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67912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order_items</a:t>
            </a:r>
            <a:endParaRPr lang="en-US" sz="1350" b="1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3867912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4A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Detailed item info per order</a:t>
            </a:r>
            <a:endParaRPr lang="en-US" sz="1250" b="1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270248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products</a:t>
            </a:r>
            <a:endParaRPr lang="en-US" sz="1350" b="1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4270248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4A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Item details with category &amp; brand</a:t>
            </a:r>
            <a:endParaRPr lang="en-US" sz="1250" b="1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672584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brands / categories</a:t>
            </a:r>
            <a:endParaRPr lang="en-US" sz="1350" b="1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4672584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4A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Metadata about items</a:t>
            </a:r>
            <a:endParaRPr lang="en-US" sz="1250" b="1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07492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stocks</a:t>
            </a:r>
            <a:endParaRPr lang="en-US" sz="1350" b="1" dirty="0"/>
          </a:p>
        </p:txBody>
      </p:sp>
      <p:sp>
        <p:nvSpPr>
          <p:cNvPr id="16" name="Text 14"/>
          <p:cNvSpPr txBox="1"/>
          <p:nvPr/>
        </p:nvSpPr>
        <p:spPr>
          <a:xfrm>
            <a:off x="2377440" y="507492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4A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Inventory levels across stores</a:t>
            </a:r>
            <a:endParaRPr lang="en-US" sz="1250" b="1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477256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stores / staffs</a:t>
            </a:r>
            <a:endParaRPr lang="en-US" sz="1350" b="1" dirty="0"/>
          </a:p>
        </p:txBody>
      </p:sp>
      <p:sp>
        <p:nvSpPr>
          <p:cNvPr id="18" name="Text 16"/>
          <p:cNvSpPr txBox="1"/>
          <p:nvPr/>
        </p:nvSpPr>
        <p:spPr>
          <a:xfrm>
            <a:off x="2377440" y="5477256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4A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Organizational structure</a:t>
            </a:r>
            <a:endParaRPr lang="en-US" sz="1250" b="1" dirty="0"/>
          </a:p>
        </p:txBody>
      </p:sp>
      <p:sp>
        <p:nvSpPr>
          <p:cNvPr id="19" name="Shape 17"/>
          <p:cNvSpPr/>
          <p:nvPr/>
        </p:nvSpPr>
        <p:spPr>
          <a:xfrm>
            <a:off x="4918710" y="1275715"/>
            <a:ext cx="7205345" cy="5436235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524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p>
            <a:endParaRPr lang="en-US"/>
          </a:p>
        </p:txBody>
      </p:sp>
      <p:pic>
        <p:nvPicPr>
          <p:cNvPr id="20" name="Image 0" descr="/home/claude/imgs/er_diagram.png"/>
          <p:cNvPicPr>
            <a:picLocks noChangeAspect="1"/>
          </p:cNvPicPr>
          <p:nvPr/>
        </p:nvPicPr>
        <p:blipFill>
          <a:blip r:embed="rId2"/>
          <a:srcRect b="5632"/>
          <a:stretch>
            <a:fillRect/>
          </a:stretch>
        </p:blipFill>
        <p:spPr>
          <a:xfrm>
            <a:off x="5120005" y="1401445"/>
            <a:ext cx="6858635" cy="497078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833745" y="6391910"/>
            <a:ext cx="5897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Entity-relationship diagram used to create the SQL schema</a:t>
            </a:r>
            <a:endParaRPr lang="en-US" sz="1400" b="1" i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25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kern="0" spc="20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3</a:t>
            </a:r>
            <a:endParaRPr lang="en-US" sz="1450" b="1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50" b="1" dirty="0">
                <a:solidFill>
                  <a:srgbClr val="1A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Python</a:t>
            </a:r>
            <a:endParaRPr lang="en-US" sz="3350" b="1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120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3D4A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Loaded cleaned tables from SQL with pandas.read_sql(), ran exploratory data analysis, then computed RFM (Recency, Frequency, Monetary) features per customer to power segmentation.</a:t>
            </a:r>
            <a:endParaRPr lang="en-US" sz="1500" b="1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926080"/>
            <a:ext cx="1463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Recency</a:t>
            </a:r>
            <a:endParaRPr lang="en-US" sz="1650" b="1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292608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D4A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Days since each customer's last order</a:t>
            </a:r>
            <a:endParaRPr lang="en-US" sz="1350" b="1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3840480"/>
            <a:ext cx="1463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Frequency</a:t>
            </a:r>
            <a:endParaRPr lang="en-US" sz="1650" b="1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384048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D4A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Number of orders placed</a:t>
            </a:r>
            <a:endParaRPr lang="en-US" sz="1350" b="1" dirty="0"/>
          </a:p>
        </p:txBody>
      </p:sp>
      <p:sp>
        <p:nvSpPr>
          <p:cNvPr id="11" name="Shape 9"/>
          <p:cNvSpPr/>
          <p:nvPr/>
        </p:nvSpPr>
        <p:spPr>
          <a:xfrm>
            <a:off x="548640" y="4663440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" y="4754880"/>
            <a:ext cx="1463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Monetary</a:t>
            </a:r>
            <a:endParaRPr lang="en-US" sz="1650" b="1" dirty="0"/>
          </a:p>
        </p:txBody>
      </p:sp>
      <p:sp>
        <p:nvSpPr>
          <p:cNvPr id="13" name="Text 11"/>
          <p:cNvSpPr txBox="1"/>
          <p:nvPr/>
        </p:nvSpPr>
        <p:spPr>
          <a:xfrm>
            <a:off x="2286000" y="475488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D4A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value of all purchases</a:t>
            </a:r>
            <a:endParaRPr lang="en-US" sz="1350" b="1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623560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i="1" dirty="0">
                <a:solidFill>
                  <a:srgbClr val="3D4A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Segments (e.g. At-Risk, Loyal, Regular) were exported back to SQL as customer_segment for use directly inside Power BI.</a:t>
            </a:r>
            <a:endParaRPr lang="en-US" sz="1300" b="1" dirty="0"/>
          </a:p>
        </p:txBody>
      </p:sp>
      <p:sp>
        <p:nvSpPr>
          <p:cNvPr id="21" name="Shape 17"/>
          <p:cNvSpPr/>
          <p:nvPr/>
        </p:nvSpPr>
        <p:spPr>
          <a:xfrm>
            <a:off x="5989320" y="1554480"/>
            <a:ext cx="5623560" cy="4709160"/>
          </a:xfrm>
          <a:prstGeom prst="roundRect">
            <a:avLst>
              <a:gd name="adj" fmla="val 2553"/>
            </a:avLst>
          </a:prstGeom>
          <a:solidFill>
            <a:srgbClr val="12183F"/>
          </a:solidFill>
        </p:spPr>
      </p:sp>
      <p:sp>
        <p:nvSpPr>
          <p:cNvPr id="22" name="Text 18"/>
          <p:cNvSpPr txBox="1"/>
          <p:nvPr/>
        </p:nvSpPr>
        <p:spPr>
          <a:xfrm>
            <a:off x="6263640" y="276106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LIBRARIES USED</a:t>
            </a:r>
            <a:endParaRPr lang="en-US" sz="1250" b="1" dirty="0"/>
          </a:p>
        </p:txBody>
      </p:sp>
      <p:sp>
        <p:nvSpPr>
          <p:cNvPr id="23" name="Text 19"/>
          <p:cNvSpPr txBox="1"/>
          <p:nvPr/>
        </p:nvSpPr>
        <p:spPr>
          <a:xfrm>
            <a:off x="6263640" y="32853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9FE8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pandas · matplotlib · seaborn</a:t>
            </a:r>
            <a:endParaRPr lang="en-US" sz="1450" b="1" dirty="0"/>
          </a:p>
        </p:txBody>
      </p:sp>
      <p:sp>
        <p:nvSpPr>
          <p:cNvPr id="24" name="Text 20"/>
          <p:cNvSpPr txBox="1"/>
          <p:nvPr/>
        </p:nvSpPr>
        <p:spPr>
          <a:xfrm>
            <a:off x="6263640" y="4142580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df.describe(), df.info(), and df.value_counts() were used for EDA before building RFM-based clustering.</a:t>
            </a:r>
            <a:endParaRPr lang="en-US" sz="1300" b="1" dirty="0"/>
          </a:p>
        </p:txBody>
      </p:sp>
      <p:sp>
        <p:nvSpPr>
          <p:cNvPr id="25" name="Text 21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25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rders by store image"/>
          <p:cNvPicPr>
            <a:picLocks noChangeAspect="1"/>
          </p:cNvPicPr>
          <p:nvPr/>
        </p:nvPicPr>
        <p:blipFill>
          <a:blip r:embed="rId2"/>
          <a:srcRect l="5330" t="7032" r="41903"/>
          <a:stretch>
            <a:fillRect/>
          </a:stretch>
        </p:blipFill>
        <p:spPr>
          <a:xfrm>
            <a:off x="-635" y="659765"/>
            <a:ext cx="6448425" cy="5619115"/>
          </a:xfrm>
          <a:prstGeom prst="rect">
            <a:avLst/>
          </a:prstGeom>
        </p:spPr>
      </p:pic>
      <p:pic>
        <p:nvPicPr>
          <p:cNvPr id="11" name="List price vs total price image"/>
          <p:cNvPicPr>
            <a:picLocks noChangeAspect="1"/>
          </p:cNvPicPr>
          <p:nvPr/>
        </p:nvPicPr>
        <p:blipFill>
          <a:blip r:embed="rId3"/>
          <a:srcRect l="4823" t="7710" r="38926"/>
          <a:stretch>
            <a:fillRect/>
          </a:stretch>
        </p:blipFill>
        <p:spPr>
          <a:xfrm>
            <a:off x="6502400" y="660400"/>
            <a:ext cx="5624195" cy="56000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kern="0" spc="20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4 — POWER BI</a:t>
            </a:r>
            <a:endParaRPr lang="en-US" sz="1450" b="1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50" b="1" dirty="0">
                <a:solidFill>
                  <a:srgbClr val="1A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Dashboard: Home Overview</a:t>
            </a:r>
            <a:endParaRPr lang="en-US" sz="3350" b="1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4A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Home page summarizes overall performance with headline KPIs, quick performance highlights, and navigation into each detailed analysis page.</a:t>
            </a:r>
            <a:endParaRPr lang="en-US" sz="1500" b="1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4434840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77800" dist="50800" dir="5400000" algn="bl" rotWithShape="0">
              <a:srgbClr val="1E2761">
                <a:alpha val="15000"/>
              </a:srgbClr>
            </a:outerShdw>
          </a:effectLst>
        </p:spPr>
      </p:sp>
      <p:pic>
        <p:nvPicPr>
          <p:cNvPr id="6" name="Image 0" descr="/home/claude/imgs/pbi_home.png"/>
          <p:cNvPicPr>
            <a:picLocks noChangeAspect="1"/>
          </p:cNvPicPr>
          <p:nvPr/>
        </p:nvPicPr>
        <p:blipFill>
          <a:blip r:embed="rId2"/>
          <a:srcRect l="3602" t="1221"/>
          <a:stretch>
            <a:fillRect/>
          </a:stretch>
        </p:blipFill>
        <p:spPr>
          <a:xfrm>
            <a:off x="548640" y="1946275"/>
            <a:ext cx="11064240" cy="44545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25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kern="0" spc="20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4 — POWER BI</a:t>
            </a:r>
            <a:endParaRPr lang="en-US" sz="1450" b="1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50" b="1" dirty="0">
                <a:solidFill>
                  <a:srgbClr val="1A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Dashboard: Sales Analysis</a:t>
            </a:r>
            <a:endParaRPr lang="en-US" sz="3350" b="1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4A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products, revenue by category, net revenue by year, order status split, and revenue-vs-discount relationship — all filterable by year, store, and category.</a:t>
            </a:r>
            <a:endParaRPr lang="en-US" sz="1500" b="1" dirty="0"/>
          </a:p>
        </p:txBody>
      </p:sp>
      <p:sp>
        <p:nvSpPr>
          <p:cNvPr id="5" name="Shape 3"/>
          <p:cNvSpPr/>
          <p:nvPr/>
        </p:nvSpPr>
        <p:spPr>
          <a:xfrm>
            <a:off x="548640" y="1869440"/>
            <a:ext cx="11064240" cy="4856480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77800" dist="508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250" b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rcRect l="3729" t="18917" r="26729" b="12194"/>
          <a:stretch>
            <a:fillRect/>
          </a:stretch>
        </p:blipFill>
        <p:spPr>
          <a:xfrm>
            <a:off x="569595" y="1869440"/>
            <a:ext cx="11057890" cy="48558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kern="0" spc="20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4 — POWER BI</a:t>
            </a:r>
            <a:endParaRPr lang="en-US" sz="1450" b="1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50" b="1" dirty="0">
                <a:solidFill>
                  <a:srgbClr val="1A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Dashboard: Store Analysis</a:t>
            </a:r>
            <a:endParaRPr lang="en-US" sz="3350" b="1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4A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Store-level revenue, a geographic sales-distribution map, staff performance report, and a live Low Stock Alert Dashboard.</a:t>
            </a:r>
            <a:endParaRPr lang="en-US" sz="1500" b="1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4434840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77800" dist="508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250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 l="3646" t="18815" r="26813" b="12000"/>
          <a:stretch>
            <a:fillRect/>
          </a:stretch>
        </p:blipFill>
        <p:spPr>
          <a:xfrm>
            <a:off x="548640" y="1965325"/>
            <a:ext cx="11064240" cy="48012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kern="0" spc="20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4 — POWER BI</a:t>
            </a:r>
            <a:endParaRPr lang="en-US" sz="1450" b="1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50" b="1" dirty="0">
                <a:solidFill>
                  <a:srgbClr val="1A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Dashboard: Customer Analysis</a:t>
            </a:r>
            <a:endParaRPr lang="en-US" sz="3350" b="1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4A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segments (At-Risk, Loyal, Regular) built from the Python RFM model, with segment-level revenue breakdown and a full customer details table — usable as a report-wide filter.</a:t>
            </a:r>
            <a:endParaRPr lang="en-US" sz="1500" b="1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4434840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77800" dist="508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250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 l="3455" t="18519" r="26537" b="11068"/>
          <a:stretch>
            <a:fillRect/>
          </a:stretch>
        </p:blipFill>
        <p:spPr>
          <a:xfrm>
            <a:off x="548640" y="1847850"/>
            <a:ext cx="11366500" cy="4856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kern="0" spc="20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</a:t>
            </a:r>
            <a:endParaRPr lang="en-US" sz="1450" b="1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50" b="1" dirty="0">
                <a:solidFill>
                  <a:srgbClr val="1A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Insights</a:t>
            </a:r>
            <a:endParaRPr lang="en-US" sz="3350" b="1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55448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56232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8.58M</a:t>
            </a:r>
            <a:endParaRPr lang="en-US" sz="3150" b="1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60320"/>
            <a:ext cx="22402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sales across all 3 stores</a:t>
            </a:r>
            <a:endParaRPr lang="en-US" sz="1250" b="1" dirty="0"/>
          </a:p>
        </p:txBody>
      </p:sp>
      <p:sp>
        <p:nvSpPr>
          <p:cNvPr id="7" name="Shape 5"/>
          <p:cNvSpPr/>
          <p:nvPr/>
        </p:nvSpPr>
        <p:spPr>
          <a:xfrm>
            <a:off x="3429000" y="1691640"/>
            <a:ext cx="2606040" cy="155448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11880" y="1856232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1,615</a:t>
            </a:r>
            <a:endParaRPr lang="en-US" sz="3150" b="1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560320"/>
            <a:ext cx="22402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orders processed</a:t>
            </a:r>
            <a:endParaRPr lang="en-US" sz="1250" b="1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2606040" cy="155448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92240" y="1856232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5.22M</a:t>
            </a:r>
            <a:endParaRPr lang="en-US" sz="3150" b="1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560320"/>
            <a:ext cx="22402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from Baldwin Bikes, the top store</a:t>
            </a:r>
            <a:endParaRPr lang="en-US" sz="1250" b="1" dirty="0"/>
          </a:p>
        </p:txBody>
      </p:sp>
      <p:sp>
        <p:nvSpPr>
          <p:cNvPr id="13" name="Shape 11"/>
          <p:cNvSpPr/>
          <p:nvPr/>
        </p:nvSpPr>
        <p:spPr>
          <a:xfrm>
            <a:off x="9189720" y="1691640"/>
            <a:ext cx="2606040" cy="155448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372600" y="1856232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1,262</a:t>
            </a:r>
            <a:endParaRPr lang="en-US" sz="3150" b="1" dirty="0"/>
          </a:p>
        </p:txBody>
      </p:sp>
      <p:sp>
        <p:nvSpPr>
          <p:cNvPr id="15" name="Text 13"/>
          <p:cNvSpPr txBox="1"/>
          <p:nvPr/>
        </p:nvSpPr>
        <p:spPr>
          <a:xfrm>
            <a:off x="9372600" y="2560320"/>
            <a:ext cx="22402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Units currently flagged in low-stock alerts</a:t>
            </a:r>
            <a:endParaRPr lang="en-US" sz="1250" b="1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109728" cy="109728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17" name="Text 15"/>
          <p:cNvSpPr txBox="1"/>
          <p:nvPr/>
        </p:nvSpPr>
        <p:spPr>
          <a:xfrm>
            <a:off x="822960" y="3538728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A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Mountain Bikes is the top-performing category at ~2.7M in net revenue</a:t>
            </a:r>
            <a:endParaRPr lang="en-US" sz="1550" b="1" dirty="0"/>
          </a:p>
        </p:txBody>
      </p:sp>
      <p:sp>
        <p:nvSpPr>
          <p:cNvPr id="18" name="Shape 16"/>
          <p:cNvSpPr/>
          <p:nvPr/>
        </p:nvSpPr>
        <p:spPr>
          <a:xfrm>
            <a:off x="548640" y="4279392"/>
            <a:ext cx="109728" cy="109728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19" name="Text 17"/>
          <p:cNvSpPr txBox="1"/>
          <p:nvPr/>
        </p:nvSpPr>
        <p:spPr>
          <a:xfrm>
            <a:off x="822960" y="416052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A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Delivered orders make up 89.5% of all orders — fulfillment is healthy</a:t>
            </a:r>
            <a:endParaRPr lang="en-US" sz="1550" b="1" dirty="0"/>
          </a:p>
        </p:txBody>
      </p:sp>
      <p:sp>
        <p:nvSpPr>
          <p:cNvPr id="20" name="Shape 18"/>
          <p:cNvSpPr/>
          <p:nvPr/>
        </p:nvSpPr>
        <p:spPr>
          <a:xfrm>
            <a:off x="548640" y="4901184"/>
            <a:ext cx="109728" cy="109728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21" name="Text 19"/>
          <p:cNvSpPr txBox="1"/>
          <p:nvPr/>
        </p:nvSpPr>
        <p:spPr>
          <a:xfrm>
            <a:off x="822960" y="4782312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A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RFM segmentation surfaced At-Risk customers generating 7.61M in revenue — a retention priority, not just a growth signal</a:t>
            </a:r>
            <a:endParaRPr lang="en-US" sz="1550" b="1" dirty="0"/>
          </a:p>
        </p:txBody>
      </p:sp>
      <p:sp>
        <p:nvSpPr>
          <p:cNvPr id="22" name="Shape 20"/>
          <p:cNvSpPr/>
          <p:nvPr/>
        </p:nvSpPr>
        <p:spPr>
          <a:xfrm>
            <a:off x="548640" y="5522976"/>
            <a:ext cx="109728" cy="109728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23" name="Text 21"/>
          <p:cNvSpPr txBox="1"/>
          <p:nvPr/>
        </p:nvSpPr>
        <p:spPr>
          <a:xfrm>
            <a:off x="822960" y="5404104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A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Marcelene Boyer leads staff performance with 2.94M in sales</a:t>
            </a:r>
            <a:endParaRPr lang="en-US" sz="1550" b="1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25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kern="0" spc="30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450" b="1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Complete, Reproducible Analytics Pipeline</a:t>
            </a:r>
            <a:endParaRPr lang="en-US" sz="3350" b="1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3464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50" b="1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283464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Fully cleaned, relational dataset stored in SQL</a:t>
            </a:r>
            <a:endParaRPr lang="en-US" sz="1650" b="1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3756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50" b="1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333756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Insightful analytics and visualizations using Python</a:t>
            </a:r>
            <a:endParaRPr lang="en-US" sz="1650" b="1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84048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50" b="1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84048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interactive, multi-page Power BI dashboard</a:t>
            </a:r>
            <a:endParaRPr lang="en-US" sz="1650" b="1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34340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50" b="1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34340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complete ETL pipeline from Excel through to Power BI</a:t>
            </a:r>
            <a:endParaRPr lang="en-US" sz="1650" b="1" dirty="0"/>
          </a:p>
        </p:txBody>
      </p:sp>
      <p:sp>
        <p:nvSpPr>
          <p:cNvPr id="14" name="Shape 12"/>
          <p:cNvSpPr/>
          <p:nvPr/>
        </p:nvSpPr>
        <p:spPr>
          <a:xfrm>
            <a:off x="822960" y="5120640"/>
            <a:ext cx="2743200" cy="9144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30352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235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5761</Words>
  <Application>WPS Presentation</Application>
  <PresentationFormat>On-screen Show (16:9)</PresentationFormat>
  <Paragraphs>375</Paragraphs>
  <Slides>15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Courier New</vt:lpstr>
      <vt:lpstr>Courier New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arthi kumar28</cp:lastModifiedBy>
  <cp:revision>10</cp:revision>
  <dcterms:created xsi:type="dcterms:W3CDTF">2026-08-30T05:39:00Z</dcterms:created>
  <dcterms:modified xsi:type="dcterms:W3CDTF">2026-09-11T04:29:43Z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E1E8873082CC4D4AA698AA41D412F7C3_13</vt:lpwstr>
  </property>
  <property fmtid="{D5CDD505-2E9C-101B-9397-08002B2CF9AE}" pid="3" name="KSOProductBuildVer">
    <vt:lpwstr>1033-12.1.0.28485</vt:lpwstr>
  </property>
</Properties>
</file>